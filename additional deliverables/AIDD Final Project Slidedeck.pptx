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0C1D7F-B799-4692-AF6B-8248A02BC011}" v="764" dt="2025-11-13T00:15:41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8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Making Education Easy: Organizing resources with the Campus Resource Hub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2933" y="3747029"/>
            <a:ext cx="10126133" cy="953029"/>
          </a:xfrm>
        </p:spPr>
        <p:txBody>
          <a:bodyPr>
            <a:normAutofit/>
          </a:bodyPr>
          <a:lstStyle/>
          <a:p>
            <a:r>
              <a:rPr lang="en-US" dirty="0"/>
              <a:t>AIDD Final Project | Team 6</a:t>
            </a:r>
          </a:p>
          <a:p>
            <a:r>
              <a:rPr lang="en-US" dirty="0"/>
              <a:t>Yennie Tran, Nithya Balachander, Quoc Anh (Alex) Ho, Cameron Lusby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3A9C-93E8-8E4D-5E8E-BCA44CBF6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Campus Resource Hub?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C2D8E49B-F35D-7850-6634-E495A083D6BD}"/>
              </a:ext>
            </a:extLst>
          </p:cNvPr>
          <p:cNvSpPr/>
          <p:nvPr/>
        </p:nvSpPr>
        <p:spPr>
          <a:xfrm>
            <a:off x="1036392" y="6493150"/>
            <a:ext cx="1797752" cy="329872"/>
          </a:xfrm>
          <a:prstGeom prst="homePlate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What is It?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AFD8449C-1963-E771-CF6C-FCFC7E9358DC}"/>
              </a:ext>
            </a:extLst>
          </p:cNvPr>
          <p:cNvSpPr/>
          <p:nvPr/>
        </p:nvSpPr>
        <p:spPr>
          <a:xfrm>
            <a:off x="2665472" y="6492588"/>
            <a:ext cx="1797752" cy="330721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Student View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31CADB6-4084-A97A-7E41-D9BB5BF76D27}"/>
              </a:ext>
            </a:extLst>
          </p:cNvPr>
          <p:cNvSpPr/>
          <p:nvPr/>
        </p:nvSpPr>
        <p:spPr>
          <a:xfrm>
            <a:off x="4298248" y="6492875"/>
            <a:ext cx="1797752" cy="330434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Staff View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F16572DC-EC26-92A6-556F-5C9339C97994}"/>
              </a:ext>
            </a:extLst>
          </p:cNvPr>
          <p:cNvSpPr/>
          <p:nvPr/>
        </p:nvSpPr>
        <p:spPr>
          <a:xfrm>
            <a:off x="7588184" y="6499962"/>
            <a:ext cx="1797752" cy="330434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AI Development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3331B3AD-93B9-351B-9770-865EF5F33671}"/>
              </a:ext>
            </a:extLst>
          </p:cNvPr>
          <p:cNvSpPr/>
          <p:nvPr/>
        </p:nvSpPr>
        <p:spPr>
          <a:xfrm>
            <a:off x="9238246" y="6498113"/>
            <a:ext cx="1797752" cy="330995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Wireframe/ERD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27539D62-DB1E-90C8-AAAB-F7E0607A201E}"/>
              </a:ext>
            </a:extLst>
          </p:cNvPr>
          <p:cNvSpPr/>
          <p:nvPr/>
        </p:nvSpPr>
        <p:spPr>
          <a:xfrm>
            <a:off x="5937494" y="6499401"/>
            <a:ext cx="1797752" cy="330995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Admin 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08E4A1-2ED3-1FDC-51FC-90F09D515956}"/>
              </a:ext>
            </a:extLst>
          </p:cNvPr>
          <p:cNvSpPr txBox="1"/>
          <p:nvPr/>
        </p:nvSpPr>
        <p:spPr>
          <a:xfrm>
            <a:off x="1036392" y="1688043"/>
            <a:ext cx="9999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Campus Resource Hub</a:t>
            </a:r>
            <a:r>
              <a:rPr lang="en-US" dirty="0"/>
              <a:t> is </a:t>
            </a:r>
            <a:r>
              <a:rPr lang="en-US" b="1" dirty="0">
                <a:solidFill>
                  <a:schemeClr val="accent1"/>
                </a:solidFill>
              </a:rPr>
              <a:t>a web application </a:t>
            </a:r>
            <a:r>
              <a:rPr lang="en-US" dirty="0"/>
              <a:t>designed for universities, allowing students, staff, and departments to easily list, discover, and book campus resources such as study rooms, equipment, labs, and event spaces.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A66128-4874-19B9-6F92-19BC391C05EC}"/>
              </a:ext>
            </a:extLst>
          </p:cNvPr>
          <p:cNvSpPr/>
          <p:nvPr/>
        </p:nvSpPr>
        <p:spPr>
          <a:xfrm>
            <a:off x="1036392" y="2863427"/>
            <a:ext cx="9999606" cy="336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2C237F-AF7E-9BED-0188-ACB26FDEC18E}"/>
              </a:ext>
            </a:extLst>
          </p:cNvPr>
          <p:cNvSpPr txBox="1"/>
          <p:nvPr/>
        </p:nvSpPr>
        <p:spPr>
          <a:xfrm>
            <a:off x="1156002" y="3013606"/>
            <a:ext cx="2201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Features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BEB8E0-6566-E251-E8CB-F0FF9D163816}"/>
              </a:ext>
            </a:extLst>
          </p:cNvPr>
          <p:cNvSpPr/>
          <p:nvPr/>
        </p:nvSpPr>
        <p:spPr>
          <a:xfrm>
            <a:off x="1185534" y="3392196"/>
            <a:ext cx="2590599" cy="26244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F4D42F-08CD-0FBA-12AF-E87D81535322}"/>
              </a:ext>
            </a:extLst>
          </p:cNvPr>
          <p:cNvSpPr/>
          <p:nvPr/>
        </p:nvSpPr>
        <p:spPr>
          <a:xfrm>
            <a:off x="3925275" y="3382938"/>
            <a:ext cx="2323125" cy="26337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0EA88F-6C54-0115-AD14-1F3C1BA96E72}"/>
              </a:ext>
            </a:extLst>
          </p:cNvPr>
          <p:cNvSpPr/>
          <p:nvPr/>
        </p:nvSpPr>
        <p:spPr>
          <a:xfrm>
            <a:off x="6419654" y="3392196"/>
            <a:ext cx="2210396" cy="26337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681085-7DE4-3757-58BF-73E1746DE77E}"/>
              </a:ext>
            </a:extLst>
          </p:cNvPr>
          <p:cNvSpPr txBox="1"/>
          <p:nvPr/>
        </p:nvSpPr>
        <p:spPr>
          <a:xfrm>
            <a:off x="1284300" y="3708321"/>
            <a:ext cx="24918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Centralized resource marketplace</a:t>
            </a:r>
            <a:r>
              <a:rPr lang="en-US" dirty="0"/>
              <a:t> for campus resources (study rooms, equipment, event spaces, tutoring time)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541648-F463-C81C-F118-3869038B371B}"/>
              </a:ext>
            </a:extLst>
          </p:cNvPr>
          <p:cNvSpPr txBox="1"/>
          <p:nvPr/>
        </p:nvSpPr>
        <p:spPr>
          <a:xfrm>
            <a:off x="4104844" y="3822628"/>
            <a:ext cx="2090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Role-based access:</a:t>
            </a:r>
            <a:r>
              <a:rPr lang="en-US" dirty="0"/>
              <a:t> Students, Staff, and Admins with different permissions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2052F2-C626-E05B-897F-9A5439D7794A}"/>
              </a:ext>
            </a:extLst>
          </p:cNvPr>
          <p:cNvSpPr txBox="1"/>
          <p:nvPr/>
        </p:nvSpPr>
        <p:spPr>
          <a:xfrm>
            <a:off x="6525531" y="3822628"/>
            <a:ext cx="21166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Search and discovery:</a:t>
            </a:r>
            <a:r>
              <a:rPr lang="en-US" dirty="0"/>
              <a:t> Filter by category, location, capacity, and availability</a:t>
            </a:r>
          </a:p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E04427-D26B-497C-8180-1651859818F6}"/>
              </a:ext>
            </a:extLst>
          </p:cNvPr>
          <p:cNvSpPr/>
          <p:nvPr/>
        </p:nvSpPr>
        <p:spPr>
          <a:xfrm>
            <a:off x="8735927" y="3382938"/>
            <a:ext cx="2210396" cy="26337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7D5424-571D-0185-D4CB-42B1495EC4E8}"/>
              </a:ext>
            </a:extLst>
          </p:cNvPr>
          <p:cNvSpPr txBox="1"/>
          <p:nvPr/>
        </p:nvSpPr>
        <p:spPr>
          <a:xfrm>
            <a:off x="8841804" y="3813370"/>
            <a:ext cx="21166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Community features:</a:t>
            </a:r>
            <a:r>
              <a:rPr lang="en-US" dirty="0"/>
              <a:t> Ratings, reviews, and messaging between users</a:t>
            </a:r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BB6372-3C11-0AC3-3A7B-ABF2469DCCA2}"/>
              </a:ext>
            </a:extLst>
          </p:cNvPr>
          <p:cNvSpPr txBox="1"/>
          <p:nvPr/>
        </p:nvSpPr>
        <p:spPr>
          <a:xfrm>
            <a:off x="11810035" y="6453690"/>
            <a:ext cx="38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9708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C017D-4E5F-CA42-6791-BE5216DE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F3160AD-2EC2-864F-B250-7D24D56A59D3}"/>
              </a:ext>
            </a:extLst>
          </p:cNvPr>
          <p:cNvSpPr/>
          <p:nvPr/>
        </p:nvSpPr>
        <p:spPr>
          <a:xfrm>
            <a:off x="473966" y="3994676"/>
            <a:ext cx="3736908" cy="965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571D46-2C97-D2DF-CB70-FABA0B9C2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View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BB89228F-9057-FAA3-130C-5923072C7426}"/>
              </a:ext>
            </a:extLst>
          </p:cNvPr>
          <p:cNvSpPr/>
          <p:nvPr/>
        </p:nvSpPr>
        <p:spPr>
          <a:xfrm>
            <a:off x="1036392" y="6493150"/>
            <a:ext cx="1797752" cy="329872"/>
          </a:xfrm>
          <a:prstGeom prst="homePlate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Context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6DB3F732-FA06-CC80-A22F-BB3A621295AE}"/>
              </a:ext>
            </a:extLst>
          </p:cNvPr>
          <p:cNvSpPr/>
          <p:nvPr/>
        </p:nvSpPr>
        <p:spPr>
          <a:xfrm>
            <a:off x="2665472" y="6492588"/>
            <a:ext cx="1797752" cy="330721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Recommendation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5DC421A-C3D5-A383-403B-C826F14D74B5}"/>
              </a:ext>
            </a:extLst>
          </p:cNvPr>
          <p:cNvSpPr/>
          <p:nvPr/>
        </p:nvSpPr>
        <p:spPr>
          <a:xfrm>
            <a:off x="4298248" y="6492875"/>
            <a:ext cx="1797752" cy="330434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Timeline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4350F0-2E7E-CB44-2FC5-24DFA0BE6B01}"/>
              </a:ext>
            </a:extLst>
          </p:cNvPr>
          <p:cNvSpPr txBox="1"/>
          <p:nvPr/>
        </p:nvSpPr>
        <p:spPr>
          <a:xfrm>
            <a:off x="838200" y="1690688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Students</a:t>
            </a:r>
            <a:r>
              <a:rPr lang="en-US" dirty="0"/>
              <a:t> can discover, book, and review campus resources with a streamlined interface focused on resource discovery and booking management.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61C5F-7690-44EF-4A7C-5FDA19D284EE}"/>
              </a:ext>
            </a:extLst>
          </p:cNvPr>
          <p:cNvSpPr txBox="1"/>
          <p:nvPr/>
        </p:nvSpPr>
        <p:spPr>
          <a:xfrm>
            <a:off x="472576" y="4004494"/>
            <a:ext cx="3632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Personal Dashboard</a:t>
            </a:r>
            <a:r>
              <a:rPr lang="en-US" dirty="0">
                <a:solidFill>
                  <a:schemeClr val="bg1"/>
                </a:solidFill>
              </a:rPr>
              <a:t> — Track My Resources, My Bookings, Messages, Reviews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CF7911-FAFD-F557-4D20-A002D765C1BA}"/>
              </a:ext>
            </a:extLst>
          </p:cNvPr>
          <p:cNvSpPr/>
          <p:nvPr/>
        </p:nvSpPr>
        <p:spPr>
          <a:xfrm>
            <a:off x="4341331" y="2751677"/>
            <a:ext cx="3736908" cy="965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8B138-74C6-7A51-A9D9-9F1097FDB946}"/>
              </a:ext>
            </a:extLst>
          </p:cNvPr>
          <p:cNvSpPr txBox="1"/>
          <p:nvPr/>
        </p:nvSpPr>
        <p:spPr>
          <a:xfrm>
            <a:off x="4341331" y="2751677"/>
            <a:ext cx="3632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Search &amp; Browse</a:t>
            </a:r>
            <a:r>
              <a:rPr lang="en-US" dirty="0">
                <a:solidFill>
                  <a:schemeClr val="bg1"/>
                </a:solidFill>
              </a:rPr>
              <a:t> — Find resources by keyword, category, location, capacity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FA70E8-86CC-8621-FC7E-052439085CD5}"/>
              </a:ext>
            </a:extLst>
          </p:cNvPr>
          <p:cNvSpPr/>
          <p:nvPr/>
        </p:nvSpPr>
        <p:spPr>
          <a:xfrm>
            <a:off x="4341331" y="3823686"/>
            <a:ext cx="3736908" cy="11370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660DB-6BCE-8CEC-443A-94453CA5BAEC}"/>
              </a:ext>
            </a:extLst>
          </p:cNvPr>
          <p:cNvSpPr txBox="1"/>
          <p:nvPr/>
        </p:nvSpPr>
        <p:spPr>
          <a:xfrm>
            <a:off x="4341331" y="3805036"/>
            <a:ext cx="3632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Book Resources</a:t>
            </a:r>
            <a:r>
              <a:rPr lang="en-US" dirty="0">
                <a:solidFill>
                  <a:schemeClr val="bg1"/>
                </a:solidFill>
              </a:rPr>
              <a:t>  </a:t>
            </a:r>
            <a:r>
              <a:rPr lang="en-US" b="1" dirty="0">
                <a:solidFill>
                  <a:schemeClr val="bg1"/>
                </a:solidFill>
              </a:rPr>
              <a:t>&amp; Manage Bookings -- </a:t>
            </a:r>
            <a:r>
              <a:rPr lang="en-US" dirty="0">
                <a:solidFill>
                  <a:schemeClr val="bg1"/>
                </a:solidFill>
              </a:rPr>
              <a:t>book via calendar, view or cancel booking status, join waitlists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FF0241-FBC1-DCCA-ECBF-639AE242C825}"/>
              </a:ext>
            </a:extLst>
          </p:cNvPr>
          <p:cNvSpPr/>
          <p:nvPr/>
        </p:nvSpPr>
        <p:spPr>
          <a:xfrm>
            <a:off x="4341331" y="5130599"/>
            <a:ext cx="3736908" cy="965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5C3B4F-5431-3F5A-2374-3D37D2A90EAB}"/>
              </a:ext>
            </a:extLst>
          </p:cNvPr>
          <p:cNvSpPr txBox="1"/>
          <p:nvPr/>
        </p:nvSpPr>
        <p:spPr>
          <a:xfrm>
            <a:off x="4341331" y="5130599"/>
            <a:ext cx="3632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Reviews &amp; Ratings</a:t>
            </a:r>
            <a:r>
              <a:rPr lang="en-US" dirty="0">
                <a:solidFill>
                  <a:schemeClr val="bg1"/>
                </a:solidFill>
              </a:rPr>
              <a:t> — Rate and review resources after completed bookings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B014DB-5D93-67D0-559C-EB7C14DB1D7D}"/>
              </a:ext>
            </a:extLst>
          </p:cNvPr>
          <p:cNvSpPr/>
          <p:nvPr/>
        </p:nvSpPr>
        <p:spPr>
          <a:xfrm>
            <a:off x="473966" y="5130856"/>
            <a:ext cx="3736908" cy="965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F0AC68-7D30-31EB-2008-DF0BCAA0D547}"/>
              </a:ext>
            </a:extLst>
          </p:cNvPr>
          <p:cNvSpPr txBox="1"/>
          <p:nvPr/>
        </p:nvSpPr>
        <p:spPr>
          <a:xfrm>
            <a:off x="473966" y="5130856"/>
            <a:ext cx="3632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Create Resources</a:t>
            </a:r>
            <a:r>
              <a:rPr lang="en-US" dirty="0">
                <a:solidFill>
                  <a:schemeClr val="bg1"/>
                </a:solidFill>
              </a:rPr>
              <a:t> — Submit resources for admin approval (auto-set to draft)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DC28E5-AF3B-97B9-6B70-6BD7EC9DE666}"/>
              </a:ext>
            </a:extLst>
          </p:cNvPr>
          <p:cNvSpPr/>
          <p:nvPr/>
        </p:nvSpPr>
        <p:spPr>
          <a:xfrm>
            <a:off x="380217" y="2571404"/>
            <a:ext cx="7836061" cy="36923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860AEA-144F-4665-2224-38AD39A6E92E}"/>
              </a:ext>
            </a:extLst>
          </p:cNvPr>
          <p:cNvSpPr txBox="1"/>
          <p:nvPr/>
        </p:nvSpPr>
        <p:spPr>
          <a:xfrm>
            <a:off x="551607" y="3087791"/>
            <a:ext cx="2604542" cy="37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Student Role Features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8EE1BE-FC32-00F0-98B4-F4295F13C14C}"/>
              </a:ext>
            </a:extLst>
          </p:cNvPr>
          <p:cNvSpPr/>
          <p:nvPr/>
        </p:nvSpPr>
        <p:spPr>
          <a:xfrm>
            <a:off x="8437944" y="2545084"/>
            <a:ext cx="306827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127B00-AD0C-6C97-CB47-8F24C3B11D48}"/>
              </a:ext>
            </a:extLst>
          </p:cNvPr>
          <p:cNvSpPr txBox="1"/>
          <p:nvPr/>
        </p:nvSpPr>
        <p:spPr>
          <a:xfrm>
            <a:off x="8487060" y="2571404"/>
            <a:ext cx="301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Limitations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59A883-3110-DEC1-86E3-0A81A15A03EC}"/>
              </a:ext>
            </a:extLst>
          </p:cNvPr>
          <p:cNvSpPr/>
          <p:nvPr/>
        </p:nvSpPr>
        <p:spPr>
          <a:xfrm>
            <a:off x="8437945" y="2940736"/>
            <a:ext cx="3068270" cy="33106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A0B775-13F4-4075-2A0E-FDA2BF4412E7}"/>
              </a:ext>
            </a:extLst>
          </p:cNvPr>
          <p:cNvSpPr txBox="1"/>
          <p:nvPr/>
        </p:nvSpPr>
        <p:spPr>
          <a:xfrm>
            <a:off x="8599989" y="3122481"/>
            <a:ext cx="27441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Resources require admin approval before being visible</a:t>
            </a:r>
          </a:p>
          <a:p>
            <a:r>
              <a:rPr lang="en-US" dirty="0"/>
              <a:t>- Cannot approve/reject bookings</a:t>
            </a:r>
          </a:p>
          <a:p>
            <a:r>
              <a:rPr lang="en-US" dirty="0"/>
              <a:t>- Cannot change resource status (during resource creation process… can’t draft or edit)</a:t>
            </a:r>
          </a:p>
          <a:p>
            <a:endParaRPr lang="en-US" dirty="0"/>
          </a:p>
        </p:txBody>
      </p:sp>
      <p:pic>
        <p:nvPicPr>
          <p:cNvPr id="31" name="Graphic 30" descr="Graduation cap with solid fill">
            <a:extLst>
              <a:ext uri="{FF2B5EF4-FFF2-40B4-BE49-F238E27FC236}">
                <a16:creationId xmlns:a16="http://schemas.microsoft.com/office/drawing/2014/main" id="{7D62DDB9-50F9-C518-2BF4-D6FF6E63C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6149" y="2777318"/>
            <a:ext cx="914400" cy="914400"/>
          </a:xfrm>
          <a:prstGeom prst="rect">
            <a:avLst/>
          </a:prstGeom>
        </p:spPr>
      </p:pic>
      <p:pic>
        <p:nvPicPr>
          <p:cNvPr id="33" name="Graphic 32" descr="Warning with solid fill">
            <a:extLst>
              <a:ext uri="{FF2B5EF4-FFF2-40B4-BE49-F238E27FC236}">
                <a16:creationId xmlns:a16="http://schemas.microsoft.com/office/drawing/2014/main" id="{9457CEA7-3D15-2A03-9739-14FC24E2C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2078" y="5429218"/>
            <a:ext cx="834510" cy="834510"/>
          </a:xfrm>
          <a:prstGeom prst="rect">
            <a:avLst/>
          </a:prstGeom>
        </p:spPr>
      </p:pic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5D052FED-809C-D3A6-2E09-912CE294D3B0}"/>
              </a:ext>
            </a:extLst>
          </p:cNvPr>
          <p:cNvSpPr/>
          <p:nvPr/>
        </p:nvSpPr>
        <p:spPr>
          <a:xfrm>
            <a:off x="1036392" y="6493150"/>
            <a:ext cx="1797752" cy="329872"/>
          </a:xfrm>
          <a:prstGeom prst="homePlate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What is It?</a:t>
            </a: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998EE325-D04C-80D9-30AD-9BDDB07FDF76}"/>
              </a:ext>
            </a:extLst>
          </p:cNvPr>
          <p:cNvSpPr/>
          <p:nvPr/>
        </p:nvSpPr>
        <p:spPr>
          <a:xfrm>
            <a:off x="2665472" y="6492588"/>
            <a:ext cx="1797752" cy="330721"/>
          </a:xfrm>
          <a:prstGeom prst="chevron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Student View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2DDB2A76-2B65-76E1-A347-6B0270A43A4C}"/>
              </a:ext>
            </a:extLst>
          </p:cNvPr>
          <p:cNvSpPr/>
          <p:nvPr/>
        </p:nvSpPr>
        <p:spPr>
          <a:xfrm>
            <a:off x="4298248" y="6492875"/>
            <a:ext cx="1797752" cy="330434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Staff View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9EC5BEAA-DA0A-00F4-EE7F-FCF3565107E4}"/>
              </a:ext>
            </a:extLst>
          </p:cNvPr>
          <p:cNvSpPr/>
          <p:nvPr/>
        </p:nvSpPr>
        <p:spPr>
          <a:xfrm>
            <a:off x="7588184" y="6499962"/>
            <a:ext cx="1797752" cy="330434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AI Development</a:t>
            </a: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6547F32B-84F1-09F5-B793-5006BBF5FE73}"/>
              </a:ext>
            </a:extLst>
          </p:cNvPr>
          <p:cNvSpPr/>
          <p:nvPr/>
        </p:nvSpPr>
        <p:spPr>
          <a:xfrm>
            <a:off x="9238246" y="6498113"/>
            <a:ext cx="1797752" cy="330995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Wireframe/ERD</a:t>
            </a:r>
          </a:p>
        </p:txBody>
      </p: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F34189B0-527D-7B52-FD8F-5C55CDFCD84F}"/>
              </a:ext>
            </a:extLst>
          </p:cNvPr>
          <p:cNvSpPr/>
          <p:nvPr/>
        </p:nvSpPr>
        <p:spPr>
          <a:xfrm>
            <a:off x="5937494" y="6499401"/>
            <a:ext cx="1797752" cy="330995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Admin View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F41581-D584-F4FD-E9AB-E37EB7BAE77B}"/>
              </a:ext>
            </a:extLst>
          </p:cNvPr>
          <p:cNvSpPr txBox="1"/>
          <p:nvPr/>
        </p:nvSpPr>
        <p:spPr>
          <a:xfrm>
            <a:off x="11810035" y="6453690"/>
            <a:ext cx="38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0177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BD80E-E1B2-1C30-1C96-CD5C35C4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1DF9323-1898-825A-8FA9-83210D93693B}"/>
              </a:ext>
            </a:extLst>
          </p:cNvPr>
          <p:cNvSpPr/>
          <p:nvPr/>
        </p:nvSpPr>
        <p:spPr>
          <a:xfrm>
            <a:off x="380217" y="2545084"/>
            <a:ext cx="7836061" cy="371864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F53F69-E078-20DD-DA89-B88F31329E2E}"/>
              </a:ext>
            </a:extLst>
          </p:cNvPr>
          <p:cNvSpPr/>
          <p:nvPr/>
        </p:nvSpPr>
        <p:spPr>
          <a:xfrm>
            <a:off x="473966" y="3897632"/>
            <a:ext cx="3736908" cy="10627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88BE9-20D0-8C2A-B9CD-6659578F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Staff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F4C63-CED5-7221-B8CF-734A463EF6F2}"/>
              </a:ext>
            </a:extLst>
          </p:cNvPr>
          <p:cNvSpPr txBox="1"/>
          <p:nvPr/>
        </p:nvSpPr>
        <p:spPr>
          <a:xfrm>
            <a:off x="838200" y="1690688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Staff </a:t>
            </a:r>
            <a:r>
              <a:rPr lang="en-US" dirty="0"/>
              <a:t>have enhanced publishing capabilities, allowing them to create and publish resources immediately while managing bookings for their own resources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BC5AD6-50BB-B53D-1DED-99CDB6F9D89B}"/>
              </a:ext>
            </a:extLst>
          </p:cNvPr>
          <p:cNvSpPr txBox="1"/>
          <p:nvPr/>
        </p:nvSpPr>
        <p:spPr>
          <a:xfrm>
            <a:off x="526051" y="4074457"/>
            <a:ext cx="3632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All Student Features</a:t>
            </a:r>
            <a:r>
              <a:rPr lang="en-US" dirty="0"/>
              <a:t> — Search, browse, book, review, message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CBEA8E-4FF0-42CF-8FA2-653CF22A110B}"/>
              </a:ext>
            </a:extLst>
          </p:cNvPr>
          <p:cNvSpPr/>
          <p:nvPr/>
        </p:nvSpPr>
        <p:spPr>
          <a:xfrm>
            <a:off x="4341331" y="3888349"/>
            <a:ext cx="3736908" cy="9656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4E4A40-3939-D03A-25F6-6D12F216B485}"/>
              </a:ext>
            </a:extLst>
          </p:cNvPr>
          <p:cNvSpPr txBox="1"/>
          <p:nvPr/>
        </p:nvSpPr>
        <p:spPr>
          <a:xfrm>
            <a:off x="4341331" y="3888349"/>
            <a:ext cx="3393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Booking Management</a:t>
            </a:r>
            <a:r>
              <a:rPr lang="en-US" dirty="0"/>
              <a:t> — Approve/reject bookings for resources they own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19A381-5A62-11ED-72CA-B50EEC377C9C}"/>
              </a:ext>
            </a:extLst>
          </p:cNvPr>
          <p:cNvSpPr/>
          <p:nvPr/>
        </p:nvSpPr>
        <p:spPr>
          <a:xfrm>
            <a:off x="4341331" y="4960358"/>
            <a:ext cx="3736908" cy="11370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F5E822-C0D3-8C87-6ADA-C3AE8A24E8FA}"/>
              </a:ext>
            </a:extLst>
          </p:cNvPr>
          <p:cNvSpPr txBox="1"/>
          <p:nvPr/>
        </p:nvSpPr>
        <p:spPr>
          <a:xfrm>
            <a:off x="4341331" y="5023845"/>
            <a:ext cx="3632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Full Resource Control</a:t>
            </a:r>
            <a:r>
              <a:rPr lang="en-US" dirty="0"/>
              <a:t> — Edit status and manage (publish, draft, or archive) their own resources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FB9740-FE58-573F-DC11-0D8E98227AF8}"/>
              </a:ext>
            </a:extLst>
          </p:cNvPr>
          <p:cNvSpPr/>
          <p:nvPr/>
        </p:nvSpPr>
        <p:spPr>
          <a:xfrm>
            <a:off x="473966" y="5130856"/>
            <a:ext cx="3736908" cy="9656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DC4F9A-6CFD-4C73-6297-A67F79F7E563}"/>
              </a:ext>
            </a:extLst>
          </p:cNvPr>
          <p:cNvSpPr txBox="1"/>
          <p:nvPr/>
        </p:nvSpPr>
        <p:spPr>
          <a:xfrm>
            <a:off x="473965" y="5130856"/>
            <a:ext cx="3662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 Approval Required</a:t>
            </a:r>
            <a:r>
              <a:rPr lang="en-US" dirty="0"/>
              <a:t> — Resources visible immediately when published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30CEE6-1955-7D6F-3AA2-D3EC65E82D58}"/>
              </a:ext>
            </a:extLst>
          </p:cNvPr>
          <p:cNvSpPr txBox="1"/>
          <p:nvPr/>
        </p:nvSpPr>
        <p:spPr>
          <a:xfrm>
            <a:off x="2933910" y="3053688"/>
            <a:ext cx="2196457" cy="37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Staff Role Features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A5CE21-AAC3-A2D0-3D71-7EB00E7B019D}"/>
              </a:ext>
            </a:extLst>
          </p:cNvPr>
          <p:cNvSpPr/>
          <p:nvPr/>
        </p:nvSpPr>
        <p:spPr>
          <a:xfrm>
            <a:off x="8437944" y="2545084"/>
            <a:ext cx="306827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DCCCFC-CC03-7B97-723F-6B48555E883F}"/>
              </a:ext>
            </a:extLst>
          </p:cNvPr>
          <p:cNvSpPr txBox="1"/>
          <p:nvPr/>
        </p:nvSpPr>
        <p:spPr>
          <a:xfrm>
            <a:off x="8487060" y="2571404"/>
            <a:ext cx="301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Limitations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EC4120-8941-E670-2D2B-3F1E9F2D51A9}"/>
              </a:ext>
            </a:extLst>
          </p:cNvPr>
          <p:cNvSpPr/>
          <p:nvPr/>
        </p:nvSpPr>
        <p:spPr>
          <a:xfrm>
            <a:off x="8437945" y="2940736"/>
            <a:ext cx="3068270" cy="33106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 descr="Warning with solid fill">
            <a:extLst>
              <a:ext uri="{FF2B5EF4-FFF2-40B4-BE49-F238E27FC236}">
                <a16:creationId xmlns:a16="http://schemas.microsoft.com/office/drawing/2014/main" id="{B446956C-67AA-D91C-FCF3-38C832BE0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867" y="5416852"/>
            <a:ext cx="834510" cy="834510"/>
          </a:xfrm>
          <a:prstGeom prst="rect">
            <a:avLst/>
          </a:prstGeom>
        </p:spPr>
      </p:pic>
      <p:pic>
        <p:nvPicPr>
          <p:cNvPr id="16" name="Graphic 15" descr="Professor male with solid fill">
            <a:extLst>
              <a:ext uri="{FF2B5EF4-FFF2-40B4-BE49-F238E27FC236}">
                <a16:creationId xmlns:a16="http://schemas.microsoft.com/office/drawing/2014/main" id="{AC1E6DE0-BDCF-3730-5E63-196FE71A8C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0367" y="2772677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B64019-543F-7003-990C-8DC2447B269C}"/>
              </a:ext>
            </a:extLst>
          </p:cNvPr>
          <p:cNvSpPr txBox="1"/>
          <p:nvPr/>
        </p:nvSpPr>
        <p:spPr>
          <a:xfrm>
            <a:off x="8559613" y="3072096"/>
            <a:ext cx="27441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Cannot moderate flagged reviews or reported messages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Cannot view, edit, suspend, or change users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 only control their </a:t>
            </a:r>
            <a:r>
              <a:rPr lang="en-US" i="1" dirty="0"/>
              <a:t>own</a:t>
            </a:r>
            <a:r>
              <a:rPr lang="en-US" dirty="0"/>
              <a:t> resources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61BC3456-8F55-F325-CDC4-5ED14310129E}"/>
              </a:ext>
            </a:extLst>
          </p:cNvPr>
          <p:cNvSpPr/>
          <p:nvPr/>
        </p:nvSpPr>
        <p:spPr>
          <a:xfrm>
            <a:off x="1036392" y="6493150"/>
            <a:ext cx="1797752" cy="329872"/>
          </a:xfrm>
          <a:prstGeom prst="homePlate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What is It?</a:t>
            </a:r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C4CDFDD4-DFB2-A2A3-DB91-300EACE2E256}"/>
              </a:ext>
            </a:extLst>
          </p:cNvPr>
          <p:cNvSpPr/>
          <p:nvPr/>
        </p:nvSpPr>
        <p:spPr>
          <a:xfrm>
            <a:off x="2665472" y="6492588"/>
            <a:ext cx="1797752" cy="330721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Student View</a:t>
            </a:r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2F63883C-3324-141E-D7F4-710AF5482003}"/>
              </a:ext>
            </a:extLst>
          </p:cNvPr>
          <p:cNvSpPr/>
          <p:nvPr/>
        </p:nvSpPr>
        <p:spPr>
          <a:xfrm>
            <a:off x="4298248" y="6492875"/>
            <a:ext cx="1797752" cy="330434"/>
          </a:xfrm>
          <a:prstGeom prst="chevron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Staff View</a:t>
            </a: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F170A928-41A6-05DC-66AF-4E6CD1E70823}"/>
              </a:ext>
            </a:extLst>
          </p:cNvPr>
          <p:cNvSpPr/>
          <p:nvPr/>
        </p:nvSpPr>
        <p:spPr>
          <a:xfrm>
            <a:off x="7588184" y="6499962"/>
            <a:ext cx="1797752" cy="330434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AI Development</a:t>
            </a: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5281C641-2C8D-E588-79B8-995EA5869964}"/>
              </a:ext>
            </a:extLst>
          </p:cNvPr>
          <p:cNvSpPr/>
          <p:nvPr/>
        </p:nvSpPr>
        <p:spPr>
          <a:xfrm>
            <a:off x="9238246" y="6498113"/>
            <a:ext cx="1797752" cy="330995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Wireframe/ERD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D04742DB-3F6A-F78E-227C-520FDD233AA8}"/>
              </a:ext>
            </a:extLst>
          </p:cNvPr>
          <p:cNvSpPr/>
          <p:nvPr/>
        </p:nvSpPr>
        <p:spPr>
          <a:xfrm>
            <a:off x="5937494" y="6499401"/>
            <a:ext cx="1797752" cy="330995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Admin View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6E26D4-9FDC-163D-E914-07017F465362}"/>
              </a:ext>
            </a:extLst>
          </p:cNvPr>
          <p:cNvSpPr txBox="1"/>
          <p:nvPr/>
        </p:nvSpPr>
        <p:spPr>
          <a:xfrm>
            <a:off x="11810035" y="6453690"/>
            <a:ext cx="38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4057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ECFDC-1494-1F42-ED52-6F04E52E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C51ECA0-5732-84B8-D65D-D09739DEE5C3}"/>
              </a:ext>
            </a:extLst>
          </p:cNvPr>
          <p:cNvSpPr/>
          <p:nvPr/>
        </p:nvSpPr>
        <p:spPr>
          <a:xfrm>
            <a:off x="473966" y="3994676"/>
            <a:ext cx="3736908" cy="965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B944C-7BE0-F439-351B-DEA0075E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B9E2F-FCF2-2805-8B27-BA687FF01582}"/>
              </a:ext>
            </a:extLst>
          </p:cNvPr>
          <p:cNvSpPr txBox="1"/>
          <p:nvPr/>
        </p:nvSpPr>
        <p:spPr>
          <a:xfrm>
            <a:off x="838200" y="1690688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Admins</a:t>
            </a:r>
            <a:r>
              <a:rPr lang="en-US" dirty="0"/>
              <a:t> have full system control with comprehensive management tools, approval workflows, content moderation, and AI-powered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C82FC7-5493-9C8B-B49A-E7DA59AFAEF2}"/>
              </a:ext>
            </a:extLst>
          </p:cNvPr>
          <p:cNvSpPr txBox="1"/>
          <p:nvPr/>
        </p:nvSpPr>
        <p:spPr>
          <a:xfrm>
            <a:off x="473965" y="4105292"/>
            <a:ext cx="3632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Approval Queue</a:t>
            </a:r>
            <a:r>
              <a:rPr lang="en-US" dirty="0">
                <a:solidFill>
                  <a:schemeClr val="bg1"/>
                </a:solidFill>
              </a:rPr>
              <a:t> — Approve/reject pending resources and bookings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974D6E-833B-E4EA-0ED6-208EAC84D3B8}"/>
              </a:ext>
            </a:extLst>
          </p:cNvPr>
          <p:cNvSpPr/>
          <p:nvPr/>
        </p:nvSpPr>
        <p:spPr>
          <a:xfrm>
            <a:off x="4341331" y="2751677"/>
            <a:ext cx="3736908" cy="965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0B831-6FD6-4AB1-BF57-47C8E8367AE0}"/>
              </a:ext>
            </a:extLst>
          </p:cNvPr>
          <p:cNvSpPr txBox="1"/>
          <p:nvPr/>
        </p:nvSpPr>
        <p:spPr>
          <a:xfrm>
            <a:off x="4341331" y="2751677"/>
            <a:ext cx="3632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 Moderation</a:t>
            </a:r>
            <a:r>
              <a:rPr lang="en-US" dirty="0">
                <a:solidFill>
                  <a:schemeClr val="bg1"/>
                </a:solidFill>
              </a:rPr>
              <a:t> — Moderate flagged reviews and reported messages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51C6C-F8AD-0E91-D40C-F522C2F87A0E}"/>
              </a:ext>
            </a:extLst>
          </p:cNvPr>
          <p:cNvSpPr/>
          <p:nvPr/>
        </p:nvSpPr>
        <p:spPr>
          <a:xfrm>
            <a:off x="4341331" y="3823686"/>
            <a:ext cx="3736908" cy="11370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B522F7-4273-74BB-6A04-D59602EE7E46}"/>
              </a:ext>
            </a:extLst>
          </p:cNvPr>
          <p:cNvSpPr/>
          <p:nvPr/>
        </p:nvSpPr>
        <p:spPr>
          <a:xfrm>
            <a:off x="4341331" y="5130599"/>
            <a:ext cx="3736908" cy="965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2F463B-EECD-760B-85B2-31E57600D533}"/>
              </a:ext>
            </a:extLst>
          </p:cNvPr>
          <p:cNvSpPr txBox="1"/>
          <p:nvPr/>
        </p:nvSpPr>
        <p:spPr>
          <a:xfrm>
            <a:off x="4341331" y="5130599"/>
            <a:ext cx="3632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Access to AI Summary Report </a:t>
            </a:r>
            <a:r>
              <a:rPr lang="en-US" dirty="0">
                <a:solidFill>
                  <a:schemeClr val="bg1"/>
                </a:solidFill>
              </a:rPr>
              <a:t>— AI-powered system analytics and insights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D58629-E15E-310F-2FBF-1A5B3E67B009}"/>
              </a:ext>
            </a:extLst>
          </p:cNvPr>
          <p:cNvSpPr/>
          <p:nvPr/>
        </p:nvSpPr>
        <p:spPr>
          <a:xfrm>
            <a:off x="473966" y="5130856"/>
            <a:ext cx="3736908" cy="965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24BD0C-9D29-54A3-5D41-39F225C2296B}"/>
              </a:ext>
            </a:extLst>
          </p:cNvPr>
          <p:cNvSpPr txBox="1"/>
          <p:nvPr/>
        </p:nvSpPr>
        <p:spPr>
          <a:xfrm>
            <a:off x="4341330" y="3914251"/>
            <a:ext cx="3867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User &amp; Resource Management</a:t>
            </a:r>
            <a:r>
              <a:rPr lang="en-US" dirty="0">
                <a:solidFill>
                  <a:schemeClr val="bg1"/>
                </a:solidFill>
              </a:rPr>
              <a:t> — View, edit, suspend, users, approve/reject resources &amp; bookings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708445-25E3-F3A8-6658-219D8A82AC0E}"/>
              </a:ext>
            </a:extLst>
          </p:cNvPr>
          <p:cNvSpPr/>
          <p:nvPr/>
        </p:nvSpPr>
        <p:spPr>
          <a:xfrm>
            <a:off x="380217" y="2571404"/>
            <a:ext cx="7836061" cy="36923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F02F6D-20BD-61E0-8310-7A6477877C47}"/>
              </a:ext>
            </a:extLst>
          </p:cNvPr>
          <p:cNvSpPr txBox="1"/>
          <p:nvPr/>
        </p:nvSpPr>
        <p:spPr>
          <a:xfrm>
            <a:off x="685785" y="3113960"/>
            <a:ext cx="2604542" cy="37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Admin Role Features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2D20DB-1EF5-1D54-1625-523661535F27}"/>
              </a:ext>
            </a:extLst>
          </p:cNvPr>
          <p:cNvSpPr/>
          <p:nvPr/>
        </p:nvSpPr>
        <p:spPr>
          <a:xfrm>
            <a:off x="8437944" y="2545084"/>
            <a:ext cx="306827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F701C-C954-566D-6751-0BE93CB565AC}"/>
              </a:ext>
            </a:extLst>
          </p:cNvPr>
          <p:cNvSpPr txBox="1"/>
          <p:nvPr/>
        </p:nvSpPr>
        <p:spPr>
          <a:xfrm>
            <a:off x="8487060" y="2571404"/>
            <a:ext cx="301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Admin Dashboard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2D8106-66A2-21AF-AE7E-AD7CB02C5C73}"/>
              </a:ext>
            </a:extLst>
          </p:cNvPr>
          <p:cNvSpPr/>
          <p:nvPr/>
        </p:nvSpPr>
        <p:spPr>
          <a:xfrm>
            <a:off x="8437945" y="2940736"/>
            <a:ext cx="3068270" cy="33106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 descr="Eye with solid fill">
            <a:extLst>
              <a:ext uri="{FF2B5EF4-FFF2-40B4-BE49-F238E27FC236}">
                <a16:creationId xmlns:a16="http://schemas.microsoft.com/office/drawing/2014/main" id="{333D4855-1253-5CCF-7040-AC3EBA74F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9731" y="2830873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7872FA-298D-197E-FC48-37A2B2762837}"/>
              </a:ext>
            </a:extLst>
          </p:cNvPr>
          <p:cNvSpPr txBox="1"/>
          <p:nvPr/>
        </p:nvSpPr>
        <p:spPr>
          <a:xfrm>
            <a:off x="570556" y="5269098"/>
            <a:ext cx="3632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Admin Logging</a:t>
            </a:r>
            <a:r>
              <a:rPr lang="en-US" dirty="0">
                <a:solidFill>
                  <a:schemeClr val="bg1"/>
                </a:solidFill>
              </a:rPr>
              <a:t> — All actions logged for audit trail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1FABDB-22A7-5BB0-B91C-BABB72CB6E4C}"/>
              </a:ext>
            </a:extLst>
          </p:cNvPr>
          <p:cNvSpPr txBox="1"/>
          <p:nvPr/>
        </p:nvSpPr>
        <p:spPr>
          <a:xfrm>
            <a:off x="8462501" y="3016251"/>
            <a:ext cx="30191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Quick action buttons (approvals, users, resource etc. management in one view)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 view system analytics (total users, resources, bookings, etc.)</a:t>
            </a:r>
          </a:p>
          <a:p>
            <a:pPr marL="285750" indent="-285750">
              <a:buFontTx/>
              <a:buChar char="-"/>
            </a:pPr>
            <a:r>
              <a:rPr lang="en-US" dirty="0"/>
              <a:t>Access to AI Summary Report</a:t>
            </a:r>
          </a:p>
        </p:txBody>
      </p:sp>
      <p:pic>
        <p:nvPicPr>
          <p:cNvPr id="30" name="Graphic 29" descr="Statistics with solid fill">
            <a:extLst>
              <a:ext uri="{FF2B5EF4-FFF2-40B4-BE49-F238E27FC236}">
                <a16:creationId xmlns:a16="http://schemas.microsoft.com/office/drawing/2014/main" id="{3EAC6DAC-D1E4-5F3A-D95C-2F13641134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4772" y="5363282"/>
            <a:ext cx="914400" cy="914400"/>
          </a:xfrm>
          <a:prstGeom prst="rect">
            <a:avLst/>
          </a:prstGeom>
        </p:spPr>
      </p:pic>
      <p:sp>
        <p:nvSpPr>
          <p:cNvPr id="32" name="Arrow: Pentagon 31">
            <a:extLst>
              <a:ext uri="{FF2B5EF4-FFF2-40B4-BE49-F238E27FC236}">
                <a16:creationId xmlns:a16="http://schemas.microsoft.com/office/drawing/2014/main" id="{6125C0E0-CD02-A855-5BB5-B079539A3F7E}"/>
              </a:ext>
            </a:extLst>
          </p:cNvPr>
          <p:cNvSpPr/>
          <p:nvPr/>
        </p:nvSpPr>
        <p:spPr>
          <a:xfrm>
            <a:off x="1036392" y="6493150"/>
            <a:ext cx="1797752" cy="329872"/>
          </a:xfrm>
          <a:prstGeom prst="homePlate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What is It?</a:t>
            </a: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BB0702AB-1629-EB5D-03B2-B4386BB6B925}"/>
              </a:ext>
            </a:extLst>
          </p:cNvPr>
          <p:cNvSpPr/>
          <p:nvPr/>
        </p:nvSpPr>
        <p:spPr>
          <a:xfrm>
            <a:off x="2665472" y="6492588"/>
            <a:ext cx="1797752" cy="330721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Student View</a:t>
            </a: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7ED70518-3096-9DBA-4096-C8F2B47D7B64}"/>
              </a:ext>
            </a:extLst>
          </p:cNvPr>
          <p:cNvSpPr/>
          <p:nvPr/>
        </p:nvSpPr>
        <p:spPr>
          <a:xfrm>
            <a:off x="4298248" y="6492875"/>
            <a:ext cx="1797752" cy="330434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Staff View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79412E17-03E2-2C91-FBA0-F344E9BE1B79}"/>
              </a:ext>
            </a:extLst>
          </p:cNvPr>
          <p:cNvSpPr/>
          <p:nvPr/>
        </p:nvSpPr>
        <p:spPr>
          <a:xfrm>
            <a:off x="7588184" y="6499962"/>
            <a:ext cx="1797752" cy="330434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AI Development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F4587904-F2FC-8309-3206-455BE2693447}"/>
              </a:ext>
            </a:extLst>
          </p:cNvPr>
          <p:cNvSpPr/>
          <p:nvPr/>
        </p:nvSpPr>
        <p:spPr>
          <a:xfrm>
            <a:off x="9238246" y="6498113"/>
            <a:ext cx="1797752" cy="330995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Wireframe/ERD</a:t>
            </a: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D995C311-54E8-130A-E198-0985AE1B52A0}"/>
              </a:ext>
            </a:extLst>
          </p:cNvPr>
          <p:cNvSpPr/>
          <p:nvPr/>
        </p:nvSpPr>
        <p:spPr>
          <a:xfrm>
            <a:off x="5937494" y="6499401"/>
            <a:ext cx="1797752" cy="330995"/>
          </a:xfrm>
          <a:prstGeom prst="chevron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Admin View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FC2247-4FDE-CF40-6115-52A68AD5ADCA}"/>
              </a:ext>
            </a:extLst>
          </p:cNvPr>
          <p:cNvSpPr txBox="1"/>
          <p:nvPr/>
        </p:nvSpPr>
        <p:spPr>
          <a:xfrm>
            <a:off x="11810035" y="6453690"/>
            <a:ext cx="38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8314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3D6B-F62C-8FDC-C634-A7D5E08FA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4DCE4-8902-1E0B-6A21-9CFAC3E5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Driven Development &amp; AI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EF63CC-5A87-73B5-6F5A-C5C96C5E98A6}"/>
              </a:ext>
            </a:extLst>
          </p:cNvPr>
          <p:cNvSpPr/>
          <p:nvPr/>
        </p:nvSpPr>
        <p:spPr>
          <a:xfrm>
            <a:off x="351765" y="1670666"/>
            <a:ext cx="3012050" cy="3760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B1D8F-F40D-CF63-26A2-3F87EE5F2281}"/>
              </a:ext>
            </a:extLst>
          </p:cNvPr>
          <p:cNvSpPr txBox="1"/>
          <p:nvPr/>
        </p:nvSpPr>
        <p:spPr>
          <a:xfrm>
            <a:off x="400880" y="1696987"/>
            <a:ext cx="301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How AI built this project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B526E2-C466-65F0-0778-22C3FCE5B892}"/>
              </a:ext>
            </a:extLst>
          </p:cNvPr>
          <p:cNvSpPr/>
          <p:nvPr/>
        </p:nvSpPr>
        <p:spPr>
          <a:xfrm>
            <a:off x="351766" y="2066318"/>
            <a:ext cx="3012050" cy="35222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93BFF9-33CE-96A9-B330-EFD1D9F87567}"/>
              </a:ext>
            </a:extLst>
          </p:cNvPr>
          <p:cNvSpPr txBox="1"/>
          <p:nvPr/>
        </p:nvSpPr>
        <p:spPr>
          <a:xfrm>
            <a:off x="407984" y="2191612"/>
            <a:ext cx="30120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Development tools:</a:t>
            </a:r>
          </a:p>
          <a:p>
            <a:r>
              <a:rPr lang="en-US" b="1" i="1" dirty="0"/>
              <a:t>Cursor AI </a:t>
            </a:r>
            <a:r>
              <a:rPr lang="en-US" dirty="0"/>
              <a:t>was an assistant in code generation, debugging, and feature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2CE3B-EE56-A8D8-205E-462FD08AF9FE}"/>
              </a:ext>
            </a:extLst>
          </p:cNvPr>
          <p:cNvSpPr txBox="1"/>
          <p:nvPr/>
        </p:nvSpPr>
        <p:spPr>
          <a:xfrm>
            <a:off x="446324" y="4051670"/>
            <a:ext cx="31116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Context Development:</a:t>
            </a:r>
          </a:p>
          <a:p>
            <a:r>
              <a:rPr lang="en-US" dirty="0"/>
              <a:t>AI used </a:t>
            </a:r>
            <a:r>
              <a:rPr lang="en-US" b="1" i="1" dirty="0"/>
              <a:t>project context </a:t>
            </a:r>
            <a:r>
              <a:rPr lang="en-US" dirty="0"/>
              <a:t>to generate aligned code (</a:t>
            </a:r>
            <a:r>
              <a:rPr lang="en-US" i="1" dirty="0"/>
              <a:t>ex</a:t>
            </a:r>
            <a:r>
              <a:rPr lang="en-US" dirty="0"/>
              <a:t>. using wireframe to create html base)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6FBCE6-FE92-EB49-C986-4BBEA59DC5EF}"/>
              </a:ext>
            </a:extLst>
          </p:cNvPr>
          <p:cNvSpPr/>
          <p:nvPr/>
        </p:nvSpPr>
        <p:spPr>
          <a:xfrm>
            <a:off x="3534792" y="1664368"/>
            <a:ext cx="3449254" cy="4111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AED9AC-9EBB-90A7-AE02-8F0B562BBE10}"/>
              </a:ext>
            </a:extLst>
          </p:cNvPr>
          <p:cNvSpPr txBox="1"/>
          <p:nvPr/>
        </p:nvSpPr>
        <p:spPr>
          <a:xfrm>
            <a:off x="3583907" y="1690688"/>
            <a:ext cx="301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Impacts from AI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1334EB-38C5-4DB6-5EE1-5266DD9196DA}"/>
              </a:ext>
            </a:extLst>
          </p:cNvPr>
          <p:cNvSpPr/>
          <p:nvPr/>
        </p:nvSpPr>
        <p:spPr>
          <a:xfrm>
            <a:off x="3534792" y="2060020"/>
            <a:ext cx="3449255" cy="35543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471B5D-14AC-BACD-4EFB-49FE1E323BF9}"/>
              </a:ext>
            </a:extLst>
          </p:cNvPr>
          <p:cNvSpPr txBox="1"/>
          <p:nvPr/>
        </p:nvSpPr>
        <p:spPr>
          <a:xfrm>
            <a:off x="3557953" y="2112678"/>
            <a:ext cx="32657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>
                <a:solidFill>
                  <a:schemeClr val="accent1"/>
                </a:solidFill>
              </a:rPr>
              <a:t>Quick prototyping </a:t>
            </a:r>
            <a:r>
              <a:rPr lang="en-US" dirty="0"/>
              <a:t>with MVC structure and </a:t>
            </a:r>
            <a:r>
              <a:rPr lang="en-US" b="1" dirty="0">
                <a:solidFill>
                  <a:schemeClr val="accent1"/>
                </a:solidFill>
              </a:rPr>
              <a:t>consistent</a:t>
            </a:r>
            <a:r>
              <a:rPr lang="en-US" dirty="0"/>
              <a:t> use of it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chemeClr val="accent1"/>
                </a:solidFill>
              </a:rPr>
              <a:t>Implementing</a:t>
            </a:r>
            <a:r>
              <a:rPr lang="en-US" dirty="0"/>
              <a:t> new features or updating features was </a:t>
            </a:r>
            <a:r>
              <a:rPr lang="en-US" b="1" dirty="0">
                <a:solidFill>
                  <a:schemeClr val="accent1"/>
                </a:solidFill>
              </a:rPr>
              <a:t>efficient and effective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/>
              <a:t>Better </a:t>
            </a:r>
            <a:r>
              <a:rPr lang="en-US" b="1" dirty="0">
                <a:solidFill>
                  <a:schemeClr val="accent1"/>
                </a:solidFill>
              </a:rPr>
              <a:t>code quality</a:t>
            </a:r>
            <a:r>
              <a:rPr lang="en-US" dirty="0"/>
              <a:t>, as AI handles errors, recognizes security patterns, and suggests best practices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803DA-78CF-FC92-D44B-D26051025A5B}"/>
              </a:ext>
            </a:extLst>
          </p:cNvPr>
          <p:cNvSpPr txBox="1"/>
          <p:nvPr/>
        </p:nvSpPr>
        <p:spPr>
          <a:xfrm>
            <a:off x="350284" y="5664637"/>
            <a:ext cx="6473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</a:rPr>
              <a:t>**Note: </a:t>
            </a:r>
            <a:r>
              <a:rPr lang="en-US" i="1" dirty="0"/>
              <a:t>All AI code reviewed and validated before integration.</a:t>
            </a:r>
          </a:p>
          <a:p>
            <a:r>
              <a:rPr lang="en-US" i="1" dirty="0"/>
              <a:t>Document of AI usage in dev_notes &amp; golden_prompts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29563C-41CE-6F97-A546-37E728492B83}"/>
              </a:ext>
            </a:extLst>
          </p:cNvPr>
          <p:cNvSpPr/>
          <p:nvPr/>
        </p:nvSpPr>
        <p:spPr>
          <a:xfrm>
            <a:off x="7196795" y="1651601"/>
            <a:ext cx="4701979" cy="4343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53B95-4E28-D6AB-51B0-62AD4A8A2A6E}"/>
              </a:ext>
            </a:extLst>
          </p:cNvPr>
          <p:cNvSpPr txBox="1"/>
          <p:nvPr/>
        </p:nvSpPr>
        <p:spPr>
          <a:xfrm>
            <a:off x="7366166" y="1676453"/>
            <a:ext cx="3987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AI Feature: Auto-Summary Reporter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BC9877-19B0-E4F6-ED14-F15697A0EF1E}"/>
              </a:ext>
            </a:extLst>
          </p:cNvPr>
          <p:cNvSpPr/>
          <p:nvPr/>
        </p:nvSpPr>
        <p:spPr>
          <a:xfrm>
            <a:off x="7196796" y="2047253"/>
            <a:ext cx="4701978" cy="355174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Graphic 25" descr="Arrow circle with solid fill">
            <a:extLst>
              <a:ext uri="{FF2B5EF4-FFF2-40B4-BE49-F238E27FC236}">
                <a16:creationId xmlns:a16="http://schemas.microsoft.com/office/drawing/2014/main" id="{17298FEA-CB86-3CBC-B5F0-5C1224938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6612" y="3320315"/>
            <a:ext cx="772984" cy="77298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39A3C96-EF85-7752-5B0E-7AEA31691AC0}"/>
              </a:ext>
            </a:extLst>
          </p:cNvPr>
          <p:cNvSpPr txBox="1"/>
          <p:nvPr/>
        </p:nvSpPr>
        <p:spPr>
          <a:xfrm>
            <a:off x="7317404" y="2142133"/>
            <a:ext cx="4424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it does</a:t>
            </a:r>
            <a:r>
              <a:rPr lang="en-US" dirty="0">
                <a:solidFill>
                  <a:schemeClr val="bg1"/>
                </a:solidFill>
              </a:rPr>
              <a:t>: generates summaries of system statistics and trends using LLMs to turn raw data into readable insights.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92625F-C6E8-539E-51AD-A6B03950F4D9}"/>
              </a:ext>
            </a:extLst>
          </p:cNvPr>
          <p:cNvSpPr txBox="1"/>
          <p:nvPr/>
        </p:nvSpPr>
        <p:spPr>
          <a:xfrm>
            <a:off x="7322636" y="3120678"/>
            <a:ext cx="4475824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Multiple LLM Support</a:t>
            </a:r>
            <a:r>
              <a:rPr lang="en-US" dirty="0"/>
              <a:t> — Works with Ollama (local), LM Studio, or OpenAI API</a:t>
            </a:r>
          </a:p>
          <a:p>
            <a:r>
              <a:rPr lang="en-US" b="1" dirty="0"/>
              <a:t>Intelligent Fallback</a:t>
            </a:r>
            <a:r>
              <a:rPr lang="en-US" dirty="0"/>
              <a:t> — If no LLM available, it will still create a summary, with a template instead</a:t>
            </a:r>
          </a:p>
          <a:p>
            <a:r>
              <a:rPr lang="en-US" b="1" dirty="0"/>
              <a:t>Comprehensive Analytics</a:t>
            </a:r>
            <a:r>
              <a:rPr lang="en-US" dirty="0"/>
              <a:t> — Booking trends, top resources, ratings, category distribution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1EDEE4-ACBC-102D-7DD6-C865BFCDD855}"/>
              </a:ext>
            </a:extLst>
          </p:cNvPr>
          <p:cNvSpPr txBox="1"/>
          <p:nvPr/>
        </p:nvSpPr>
        <p:spPr>
          <a:xfrm>
            <a:off x="7196794" y="5628330"/>
            <a:ext cx="491472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"Bookings increased 25% this week compared to last week"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50FE9E-94CA-5D91-824C-2F200E338939}"/>
              </a:ext>
            </a:extLst>
          </p:cNvPr>
          <p:cNvSpPr/>
          <p:nvPr/>
        </p:nvSpPr>
        <p:spPr>
          <a:xfrm>
            <a:off x="7196795" y="5618750"/>
            <a:ext cx="4701979" cy="6559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65C6F3E1-291F-86D0-EABE-4E869D26489A}"/>
              </a:ext>
            </a:extLst>
          </p:cNvPr>
          <p:cNvSpPr/>
          <p:nvPr/>
        </p:nvSpPr>
        <p:spPr>
          <a:xfrm>
            <a:off x="1036392" y="6493150"/>
            <a:ext cx="1797752" cy="329872"/>
          </a:xfrm>
          <a:prstGeom prst="homePlate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What is It?</a:t>
            </a:r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1E5F9079-B9DA-F5A8-2584-BC6137ED500B}"/>
              </a:ext>
            </a:extLst>
          </p:cNvPr>
          <p:cNvSpPr/>
          <p:nvPr/>
        </p:nvSpPr>
        <p:spPr>
          <a:xfrm>
            <a:off x="2665472" y="6492588"/>
            <a:ext cx="1797752" cy="330721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Student View</a:t>
            </a: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0E9E6EFB-F36B-B4E9-1CFE-F1F22CBB6E8F}"/>
              </a:ext>
            </a:extLst>
          </p:cNvPr>
          <p:cNvSpPr/>
          <p:nvPr/>
        </p:nvSpPr>
        <p:spPr>
          <a:xfrm>
            <a:off x="4298248" y="6492875"/>
            <a:ext cx="1797752" cy="330434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Staff View</a:t>
            </a: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084DF2E8-F872-E893-035B-976DDF663C06}"/>
              </a:ext>
            </a:extLst>
          </p:cNvPr>
          <p:cNvSpPr/>
          <p:nvPr/>
        </p:nvSpPr>
        <p:spPr>
          <a:xfrm>
            <a:off x="7588184" y="6499962"/>
            <a:ext cx="1797752" cy="330434"/>
          </a:xfrm>
          <a:prstGeom prst="chevron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AI Development</a:t>
            </a: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FB7206DD-9255-2A8E-BF67-78D6EA8AB5F3}"/>
              </a:ext>
            </a:extLst>
          </p:cNvPr>
          <p:cNvSpPr/>
          <p:nvPr/>
        </p:nvSpPr>
        <p:spPr>
          <a:xfrm>
            <a:off x="9238246" y="6498113"/>
            <a:ext cx="1797752" cy="330995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Wireframe/ERD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6AF99E11-BCC8-127A-A2BA-347214D2B708}"/>
              </a:ext>
            </a:extLst>
          </p:cNvPr>
          <p:cNvSpPr/>
          <p:nvPr/>
        </p:nvSpPr>
        <p:spPr>
          <a:xfrm>
            <a:off x="5937494" y="6499401"/>
            <a:ext cx="1797752" cy="330995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Admin View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B2016F-4C11-3965-2CB2-817DB545A4B3}"/>
              </a:ext>
            </a:extLst>
          </p:cNvPr>
          <p:cNvSpPr txBox="1"/>
          <p:nvPr/>
        </p:nvSpPr>
        <p:spPr>
          <a:xfrm>
            <a:off x="11810035" y="6453690"/>
            <a:ext cx="38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26476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18DE-F5A8-5F1C-CCBD-8916AE05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EB35-D7C0-B323-D46F-F5AD05FD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Wireframes &amp; ERD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2DC8061C-1092-D991-F659-8EB620EB8C07}"/>
              </a:ext>
            </a:extLst>
          </p:cNvPr>
          <p:cNvSpPr/>
          <p:nvPr/>
        </p:nvSpPr>
        <p:spPr>
          <a:xfrm>
            <a:off x="1036392" y="6493150"/>
            <a:ext cx="1797752" cy="329872"/>
          </a:xfrm>
          <a:prstGeom prst="homePlate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What is It?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00C8789F-DEA5-B781-52EE-1B4595860A4C}"/>
              </a:ext>
            </a:extLst>
          </p:cNvPr>
          <p:cNvSpPr/>
          <p:nvPr/>
        </p:nvSpPr>
        <p:spPr>
          <a:xfrm>
            <a:off x="2665472" y="6492588"/>
            <a:ext cx="1797752" cy="330721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Student View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254728A5-CA11-E9F7-D5DE-9308D3D86219}"/>
              </a:ext>
            </a:extLst>
          </p:cNvPr>
          <p:cNvSpPr/>
          <p:nvPr/>
        </p:nvSpPr>
        <p:spPr>
          <a:xfrm>
            <a:off x="4298248" y="6492875"/>
            <a:ext cx="1797752" cy="330434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Staff View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5825E347-9C3A-6F59-0834-64CBD5F9EFA4}"/>
              </a:ext>
            </a:extLst>
          </p:cNvPr>
          <p:cNvSpPr/>
          <p:nvPr/>
        </p:nvSpPr>
        <p:spPr>
          <a:xfrm>
            <a:off x="7588184" y="6499962"/>
            <a:ext cx="1797752" cy="330434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AI Development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EAA3C4A3-3E67-43D2-BC0C-8761605A9E01}"/>
              </a:ext>
            </a:extLst>
          </p:cNvPr>
          <p:cNvSpPr/>
          <p:nvPr/>
        </p:nvSpPr>
        <p:spPr>
          <a:xfrm>
            <a:off x="9238246" y="6498113"/>
            <a:ext cx="1797752" cy="330995"/>
          </a:xfrm>
          <a:prstGeom prst="chevron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Wireframe/ERD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7020C2CB-6D6A-5A09-9D2F-6E62FA736B74}"/>
              </a:ext>
            </a:extLst>
          </p:cNvPr>
          <p:cNvSpPr/>
          <p:nvPr/>
        </p:nvSpPr>
        <p:spPr>
          <a:xfrm>
            <a:off x="5937494" y="6499401"/>
            <a:ext cx="1797752" cy="330995"/>
          </a:xfrm>
          <a:prstGeom prst="chevron">
            <a:avLst/>
          </a:prstGeom>
          <a:solidFill>
            <a:srgbClr val="353537"/>
          </a:solidFill>
          <a:ln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342" tIns="34671" rIns="87659" bIns="34671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Admin 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88753D-BB9F-9AE2-F5D3-A425C8A9F4D1}"/>
              </a:ext>
            </a:extLst>
          </p:cNvPr>
          <p:cNvSpPr txBox="1"/>
          <p:nvPr/>
        </p:nvSpPr>
        <p:spPr>
          <a:xfrm>
            <a:off x="11810035" y="6453690"/>
            <a:ext cx="38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14E755-B28F-6495-6272-1D5BE3FB6915}"/>
              </a:ext>
            </a:extLst>
          </p:cNvPr>
          <p:cNvSpPr txBox="1"/>
          <p:nvPr/>
        </p:nvSpPr>
        <p:spPr>
          <a:xfrm>
            <a:off x="128962" y="1449623"/>
            <a:ext cx="624816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/>
                </a:solidFill>
              </a:rPr>
              <a:t>wireframe</a:t>
            </a:r>
            <a:r>
              <a:rPr lang="en-US" dirty="0"/>
              <a:t> for Campus Resource Hub was built on Figma. That was then put into /docs/context/DT to be used for content-driven development in Cursor. The wireframe gave a base idea/template to the html.</a:t>
            </a:r>
          </a:p>
        </p:txBody>
      </p:sp>
      <p:pic>
        <p:nvPicPr>
          <p:cNvPr id="42" name="Picture 4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4BF969-B8BD-469D-FC20-5803B3C3F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92" t="1" r="21636" b="-1648"/>
          <a:stretch>
            <a:fillRect/>
          </a:stretch>
        </p:blipFill>
        <p:spPr>
          <a:xfrm>
            <a:off x="113269" y="2873784"/>
            <a:ext cx="3602204" cy="3121592"/>
          </a:xfrm>
          <a:prstGeom prst="rect">
            <a:avLst/>
          </a:prstGeom>
        </p:spPr>
      </p:pic>
      <p:pic>
        <p:nvPicPr>
          <p:cNvPr id="46" name="Picture 4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B54FF2-11F5-41C8-E9E5-D0235428EF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2" r="22147" b="2658"/>
          <a:stretch>
            <a:fillRect/>
          </a:stretch>
        </p:blipFill>
        <p:spPr>
          <a:xfrm>
            <a:off x="3407563" y="2854167"/>
            <a:ext cx="3784922" cy="312159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4121634-C1A5-4DE9-9321-56BCC1523206}"/>
              </a:ext>
            </a:extLst>
          </p:cNvPr>
          <p:cNvSpPr txBox="1"/>
          <p:nvPr/>
        </p:nvSpPr>
        <p:spPr>
          <a:xfrm>
            <a:off x="113269" y="6059597"/>
            <a:ext cx="539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</a:rPr>
              <a:t>**Note:</a:t>
            </a:r>
            <a:r>
              <a:rPr lang="en-US" i="1" dirty="0">
                <a:solidFill>
                  <a:srgbClr val="353537"/>
                </a:solidFill>
              </a:rPr>
              <a:t> 2/6 wireframes are shown here as examples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3BE1AF-A247-830E-9BE1-C16F66E111F8}"/>
              </a:ext>
            </a:extLst>
          </p:cNvPr>
          <p:cNvSpPr txBox="1"/>
          <p:nvPr/>
        </p:nvSpPr>
        <p:spPr>
          <a:xfrm>
            <a:off x="6540759" y="1436441"/>
            <a:ext cx="553797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/>
                </a:solidFill>
              </a:rPr>
              <a:t>ERD</a:t>
            </a:r>
            <a:r>
              <a:rPr lang="en-US" dirty="0"/>
              <a:t> shows a relational database with Users at the center, connected to Resources, Bookings, Messages, Reviews, Waitlist, and </a:t>
            </a:r>
            <a:r>
              <a:rPr lang="en-US" dirty="0" err="1"/>
              <a:t>Admin_logs</a:t>
            </a:r>
            <a:r>
              <a:rPr lang="en-US" dirty="0"/>
              <a:t> through foreign key relationships</a:t>
            </a:r>
          </a:p>
        </p:txBody>
      </p:sp>
      <p:pic>
        <p:nvPicPr>
          <p:cNvPr id="60" name="Picture 59" descr="A diagram of a diagram&#10;&#10;AI-generated content may be incorrect.">
            <a:extLst>
              <a:ext uri="{FF2B5EF4-FFF2-40B4-BE49-F238E27FC236}">
                <a16:creationId xmlns:a16="http://schemas.microsoft.com/office/drawing/2014/main" id="{3DAAF06E-24BB-A0D7-3001-D0BAAAAF46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864" y="2834551"/>
            <a:ext cx="5537973" cy="313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92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1268</TotalTime>
  <Words>873</Words>
  <Application>Microsoft Office PowerPoint</Application>
  <PresentationFormat>Widescreen</PresentationFormat>
  <Paragraphs>114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Making Education Easy: Organizing resources with the Campus Resource Hub application</vt:lpstr>
      <vt:lpstr>What is the Campus Resource Hub?</vt:lpstr>
      <vt:lpstr>Student View</vt:lpstr>
      <vt:lpstr>Staff View</vt:lpstr>
      <vt:lpstr>Admin View</vt:lpstr>
      <vt:lpstr>AI Driven Development &amp; AI Features</vt:lpstr>
      <vt:lpstr>Wireframes &amp; ERD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Yen</dc:creator>
  <cp:lastModifiedBy>Tran, Yennie</cp:lastModifiedBy>
  <cp:revision>2</cp:revision>
  <dcterms:created xsi:type="dcterms:W3CDTF">2025-11-12T19:04:40Z</dcterms:created>
  <dcterms:modified xsi:type="dcterms:W3CDTF">2025-11-13T16:13:43Z</dcterms:modified>
</cp:coreProperties>
</file>